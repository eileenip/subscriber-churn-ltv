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51F"/>
                </a:solidFill>
                <a:latin typeface="Arial"/>
              </a:rPr>
              <a:t>Cumulative % of renewals, by days after expiry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Renewals within N days of expiry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3</c:v>
                  </c:pt>
                  <c:pt idx="3">
                    <c:v>5</c:v>
                  </c:pt>
                  <c:pt idx="4">
                    <c:v>7</c:v>
                  </c:pt>
                  <c:pt idx="5">
                    <c:v>10</c:v>
                  </c:pt>
                  <c:pt idx="6">
                    <c:v>14</c:v>
                  </c:pt>
                  <c:pt idx="7">
                    <c:v>21</c:v>
                  </c:pt>
                  <c:pt idx="8">
                    <c:v>30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77.7</c:v>
                </c:pt>
                <c:pt idx="1">
                  <c:v>90.1</c:v>
                </c:pt>
                <c:pt idx="2">
                  <c:v>92.9</c:v>
                </c:pt>
                <c:pt idx="3">
                  <c:v>93.9</c:v>
                </c:pt>
                <c:pt idx="4">
                  <c:v>94.5</c:v>
                </c:pt>
                <c:pt idx="5">
                  <c:v>95</c:v>
                </c:pt>
                <c:pt idx="6">
                  <c:v>95.5</c:v>
                </c:pt>
                <c:pt idx="7">
                  <c:v>96</c:v>
                </c:pt>
                <c:pt idx="8">
                  <c:v>96.8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renewals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51F"/>
                </a:solidFill>
                <a:latin typeface="Arial"/>
              </a:rPr>
              <a:t>PR-AUC on real, out-of-time validation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55506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15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50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CA3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Recency rule</c:v>
                  </c:pt>
                  <c:pt idx="1">
                    <c:v>LightGBM (deployed)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0.618</c:v>
                </c:pt>
                <c:pt idx="1">
                  <c:v>0.647</c:v>
                </c:pt>
                <c:pt idx="2">
                  <c:v>0.925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715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715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2C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SIGNAL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Crossing churn risk with subscription value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69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actually worth spending a retention budget on — a real subscriber base, real transactions, real dollars.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268,828 subscribers scored  ·  music-streaming subscription base  ·  held-out validation snapshot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churn score alone isn't a spending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budget usually gets spent reactively — on whoever looks about to leave, regardless of whether they were ever paying much. A churn model tells you who's leaving. It doesn't tell you who's worth paying to keep.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output of this project is churn risk crossed with subscription value — so spend goes where it returns.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1EF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0" y="1956816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9992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subscribers in this base actually cancel (held-out validation set)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0" y="356616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BE6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3694176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47365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subscribers account for a wildly outsized share of spend — and churn at 81.9%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&amp;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churn definition earned from the data, not a rule of thumb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21.5M real transactions from a music-streaming subscriber base (2015–2017). Churn = no renewal within 30 days of a subscription's expiry — chosen because that's where this data's own renewal-gap curve flattens out, not copied from a blog post.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validation, not a random split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an earlier period, test on a genuinely later one — same discipline a random split would flatter past.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data-quality issue investigated, not assumed away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Billing-correction duplicates, pre-registration transactions, and cancellation-linked anomalies were each found, quantified, and handled deliberately.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7830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is where the curve is essentially flat — the churn window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approaches, judged on the same held-out data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23760" y="192024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 on raw accuracy.</a:t>
            </a:r>
            <a:endParaRPr lang="en-US" sz="1450" dirty="0"/>
          </a:p>
          <a:p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 — not hidden in favour of the flashier model.</a:t>
            </a:r>
            <a:endParaRPr lang="en-US" sz="14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deployed anyway.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native SHAP support is what lets us tell a retention team why someone's at risk — not just that they are. That explainability is what powers every reason shown in the live dashboard.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subscriber — before we even look at risk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behaviour alone (recency, frequency, spend, tenure) — never by whether they actually churned.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F1EF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201168" cy="201168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Drifting Standard Subscribers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53.8% of base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3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55.8%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 avg. spend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03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yr tenure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14884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EAF1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2423160"/>
            <a:ext cx="201168" cy="20116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Frequent Renewers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566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43.4% of base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023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572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 avg. spend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303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~4.6 yr tenure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214884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FDEE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321040" y="2423160"/>
            <a:ext cx="201168" cy="20116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0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Subscribers Going Dark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566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 of base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023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81.9%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572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$977 avg. spend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303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~3.9 yr tenure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×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priority order for retention spend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874520"/>
          </a:xfrm>
          <a:prstGeom prst="roundRect">
            <a:avLst>
              <a:gd name="adj" fmla="val 3415"/>
            </a:avLst>
          </a:prstGeom>
          <a:solidFill>
            <a:srgbClr val="FBE6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Save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06240" y="19659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06240" y="1965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120,422  </a:t>
            </a:r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(44.8%)   </a:t>
            </a:r>
            <a:pPr indent="0" marL="0">
              <a:buNone/>
            </a:pPr>
            <a:r>
              <a:rPr lang="en-US" sz="2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47.6% churn   </a:t>
            </a:r>
            <a:pPr indent="0" marL="0">
              <a:buNone/>
            </a:pPr>
            <a:r>
              <a:rPr lang="en-US" sz="13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$190 avg. spend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97880" y="1783080"/>
            <a:ext cx="5074920" cy="1874520"/>
          </a:xfrm>
          <a:prstGeom prst="roundRect">
            <a:avLst>
              <a:gd name="adj" fmla="val 3415"/>
            </a:avLst>
          </a:prstGeom>
          <a:solidFill>
            <a:srgbClr val="FDEE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947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Nudge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555480" y="19659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55480" y="1965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560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75,240  </a:t>
            </a:r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(28.0%)   </a:t>
            </a:r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43.1% churn   </a:t>
            </a:r>
            <a:pPr indent="0" marL="0">
              <a:buNone/>
            </a:pPr>
            <a:r>
              <a:rPr lang="en-US" sz="13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 avg. spend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074920" cy="1874520"/>
          </a:xfrm>
          <a:prstGeom prst="roundRect">
            <a:avLst>
              <a:gd name="adj" fmla="val 3415"/>
            </a:avLst>
          </a:prstGeom>
          <a:solidFill>
            <a:srgbClr val="FD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96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Value — Monitor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06240" y="41148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06240" y="4114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32,857  </a:t>
            </a:r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(12.2%)   </a:t>
            </a:r>
            <a:pPr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39.6% churn   </a:t>
            </a:r>
            <a:pPr indent="0" marL="0">
              <a:buNone/>
            </a:pPr>
            <a:r>
              <a:rPr lang="en-US" sz="13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$263 avg. spend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3931920"/>
            <a:ext cx="5074920" cy="1874520"/>
          </a:xfrm>
          <a:prstGeom prst="roundRect">
            <a:avLst>
              <a:gd name="adj" fmla="val 3415"/>
            </a:avLst>
          </a:prstGeom>
          <a:solidFill>
            <a:srgbClr val="E3F6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4096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Stable, No Action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55480" y="41148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55480" y="4114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7091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40,309  </a:t>
            </a:r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(15.0%)   </a:t>
            </a:r>
            <a:pPr indent="0" marL="0">
              <a:buNone/>
            </a:pPr>
            <a:r>
              <a:rPr lang="en-US" sz="2000" b="1" dirty="0">
                <a:solidFill>
                  <a:srgbClr val="0CA3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 churn   </a:t>
            </a:r>
            <a:pPr indent="0" marL="0">
              <a:buNone/>
            </a:pPr>
            <a:r>
              <a:rPr lang="en-US" sz="13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 avg. spend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actually do, Monday morning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Save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with a real offer — highest revenue at stake per member saved.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182880" cy="18288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926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Nudge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2608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passive retention only — the assumed offer cost isn't justified by the value here.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182880" cy="1828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023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Value — Monitor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02336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“safe” — 39.6% still actually churn. A light-touch check-in, short of full priority-save spend.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504688"/>
            <a:ext cx="182880" cy="182880"/>
          </a:xfrm>
          <a:prstGeom prst="ellipse">
            <a:avLst/>
          </a:prstGeom>
          <a:solidFill>
            <a:srgbClr val="0CA3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Stable, No Action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512064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low risk and low value — leave alone.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COST AND RETURN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economics, under stated assumptions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ASSUMED figures, clearly labeled — not observed real dollars. Sensitivity to these assumptions is exactly why they're stated, not buried.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Assumed inputs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 cost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07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  (half the modal $149 plan)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a retained subscriber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21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$894  (6× modal plan price — also a real plan price point)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success rate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(a commonly-cited industry figure)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57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threshold (0.88) — chosen to maximise total expected net benefit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0" y="25146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1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264261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195,662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685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flagged (72.8% of base)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25146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1EF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0" y="264261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45.9%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685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of those flagged, actually cancel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420624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1EF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0" y="433425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53766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of all cancellations, caught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20624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0" y="433425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2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$9.4M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53766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net benefit, under the assumptions above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DRAFT, FOR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can't tell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698480" cy="1234440"/>
          </a:xfrm>
          <a:prstGeom prst="roundRect">
            <a:avLst>
              <a:gd name="adj" fmla="val 5185"/>
            </a:avLst>
          </a:prstGeom>
          <a:solidFill>
            <a:srgbClr val="F1EF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Listening-activity data is thin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March 2017 (one month) of real listening intensity exists — used for live scoring only, never backtested against a real future outcome.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0698480" cy="1234440"/>
          </a:xfrm>
          <a:prstGeom prst="roundRect">
            <a:avLst>
              <a:gd name="adj" fmla="val 5185"/>
            </a:avLst>
          </a:prstGeom>
          <a:solidFill>
            <a:srgbClr val="F1EF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30% offer success rate is an assumption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67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from this data. No A/B test of an actual retention offer exists yet — that's the single highest-value next step.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0698480" cy="1234440"/>
          </a:xfrm>
          <a:prstGeom prst="roundRect">
            <a:avLst>
              <a:gd name="adj" fmla="val 5185"/>
            </a:avLst>
          </a:prstGeom>
          <a:solidFill>
            <a:srgbClr val="F1EF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churn rate isn't the industry-famous one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85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39.7% here vs. the well-known 9.0% WSDM benchmark — different methodology (every member with enough history, not just a snapshot of currently-active ones), not a miscalibrated model.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92C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968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385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retention offers against a real holdout — replaces the 30% assumption with a measured number.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968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072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listening-activity history beyond one month, so intensity features can be backtested too.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968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6758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5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retrain cadence and drift monitoring — subscriber behaviour and pricing both move over time.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the risk×value dashboard, the segments, the subscriber lookup — all built on these same numbers.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8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2026-09-08T15:27:21Z</dcterms:created>
  <dcterms:modified xsi:type="dcterms:W3CDTF">2026-09-08T15:27:21Z</dcterms:modified>
</cp:coreProperties>
</file>